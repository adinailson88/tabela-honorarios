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280160"/>
            <a:ext cx="3291840" cy="32918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846320"/>
            <a:ext cx="2926080" cy="2926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Nova Metodologia para a Tabela de Honorários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ADCFC"/>
                </a:solidFill>
                <a:latin typeface="Cambria"/>
              </a:rPr>
              <a:t>dos Profissionais de Engenharia da Bahia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Subsídio técnico baseado em evidências — SENGE/BA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9FB0C3"/>
                </a:solidFill>
                <a:latin typeface="Calibri"/>
              </a:rPr>
              <a:t>Adinailson Guimarães de Oliveira · Engenheiro Eletricista · Conselheiro CREA-BA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1" i="0">
                <a:solidFill>
                  <a:srgbClr val="065A82"/>
                </a:solidFill>
                <a:latin typeface="Cambria"/>
              </a:rPr>
              <a:t>O problema atual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39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222A33"/>
                </a:solidFill>
                <a:latin typeface="Calibri"/>
              </a:rPr>
              <a:t>Índice único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5B6B7A"/>
                </a:solidFill>
                <a:latin typeface="Calibri"/>
              </a:rPr>
              <a:t>Reajuste só pelo CUB — índice de construção civil (R$/m²) aplicado a todas as modalidades.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468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222A33"/>
                </a:solidFill>
                <a:latin typeface="Calibri"/>
              </a:rPr>
              <a:t>Valor sem rastreabilidade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118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5B6B7A"/>
                </a:solidFill>
                <a:latin typeface="Calibri"/>
              </a:rPr>
              <a:t>Não há modelo explícito de formação do valor-base por item.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222A33"/>
                </a:solidFill>
                <a:latin typeface="Calibri"/>
              </a:rPr>
              <a:t>Cobertura desatualizada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029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5B6B7A"/>
                </a:solidFill>
                <a:latin typeface="Calibri"/>
              </a:rPr>
              <a:t>Faltam serviços novos (fotovoltaica) e unidades adequadas (kVA, kWp, ha, m³).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63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1">
                <a:solidFill>
                  <a:srgbClr val="065A82"/>
                </a:solidFill>
                <a:latin typeface="Calibri"/>
              </a:rPr>
              <a:t>O próprio projeto interno reconhece que o CUB “não acompanha mais a evolução dos preços”.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A oportunidade: evidência já disponível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5B6B7A"/>
                </a:solidFill>
                <a:latin typeface="Calibri"/>
              </a:rPr>
              <a:t>Base de ARTs do CREA-BA (2022), agregada e anonimizada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065A82"/>
                </a:solidFill>
                <a:latin typeface="Cambria"/>
              </a:rPr>
              <a:t>726.028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linhas de atividade (ART)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242316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065A82"/>
                </a:solidFill>
                <a:latin typeface="Cambria"/>
              </a:rPr>
              <a:t>230.928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3200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ARTs distintas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42316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065A82"/>
                </a:solidFill>
                <a:latin typeface="Cambria"/>
              </a:rPr>
              <a:t>R$ 1.570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200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mediana do valor declarado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42316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065A82"/>
                </a:solidFill>
                <a:latin typeface="Cambria"/>
              </a:rPr>
              <a:t>1.047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200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faixas Atividade × Unidade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Faixa interquartil (P25–P75): R$ 540 a R$ 8.000 · 97% das ARTs na Bahia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111 unidades de medida — predominam m² e “unidade”, com forte volume de kWp (≈40 mil) e kVA (≈11 mil), confirmando a necessidade de unidades específicas por serviço.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Localização — onde está a demanda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5B6B7A"/>
                </a:solidFill>
                <a:latin typeface="Calibri"/>
              </a:rPr>
              <a:t>Concentração geográfica das ARTs (2022) — base do ajuste regional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85.334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163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Salvador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47472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286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26.121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8163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Feira de Santana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347472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20.982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163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Vitória da Conquista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347472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20.741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Camaçari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47472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74903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20.642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Barreiras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66160"/>
            <a:ext cx="347472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74903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18.446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Luís Eduardo Magalhães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Eixos: Região Metropolitana de Salvador, oeste agrícola (Barreiras/LEM/São Desidério) e sul/extremo-sul. O painel interativo traz o mapa completo da Bahia.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Os limites dos dados (honestidade metodológica)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4708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E8EEF5"/>
                </a:solidFill>
                <a:latin typeface="Calibri"/>
              </a:rPr>
              <a:t>A ART NÃO é honorário: valor_contrato pode ser valor de obra, de contrato ou declarado.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E8EEF5"/>
                </a:solidFill>
                <a:latin typeface="Calibri"/>
              </a:rPr>
              <a:t>Há outliers e erros (máximo observado &gt; R$ 800 milhões) e 111 unidades distintas.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50207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E8EEF5"/>
                </a:solidFill>
                <a:latin typeface="Calibri"/>
              </a:rPr>
              <a:t>Por isso usamos MEDIANA e intervalo interquartil — nunca a média.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983479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83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01767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E8EEF5"/>
                </a:solidFill>
                <a:latin typeface="Calibri"/>
              </a:rPr>
              <a:t>Uso apenas agregado e anonimizado; supressão de células com n&lt;5; sem ranking individual (LGPD).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1">
                <a:solidFill>
                  <a:srgbClr val="02C39A"/>
                </a:solidFill>
                <a:latin typeface="Calibri"/>
              </a:rPr>
              <a:t>A evidência é INDIRETA — serve para calibrar faixas, não para provar preço.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A proposta: 3 camadas + calibração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Catálogo de atividades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Nível + Atividade do sistema CREA — o que se precifica.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47472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59" y="21031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8803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Valor-base por esforço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4747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Tempo técnico × valor-hora de referência + custos (piso profissional).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47472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Ajuste regional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747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Pesos socioeconômicos por região da Bahia (modelo já iniciado).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12801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+ Calibração / validação contra mediana e IQR das 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Saída em FAIXAS: piso técnico (P25) · referência (mediana) · teto orientativo (P75)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Faixas, não preço único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5B6B7A"/>
                </a:solidFill>
                <a:latin typeface="Calibri"/>
              </a:rPr>
              <a:t>Mais defensável tecnicamente e juridicamente; absorve a dispersão real do mercado.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2468880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PISO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P25 — Limite anti-aviltamento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06440" y="246888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REFERÊNCIA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840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Mediana — Estimativa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0" y="2468880"/>
            <a:ext cx="731520" cy="73152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TETO ORIENTATIVO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40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Calibri"/>
              </a:rPr>
              <a:t>P75 — Maior complexidade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Exemplos calibrados (ART 2022): Projeto/m² → mediana R$ 1.500 (IQR 800–5.000) · Projeto/kWp → R$ 1.000 (552–2.000).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O que já está pronto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30352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Painel interativo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0604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Dashboard HTML com mapa da Bahia e gráficos — abre em 1 clique.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0352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Planilha-modelo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60604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1.047 itens (Atividade × Unidade) com faixas observadas.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30352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1148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148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Diagnósticos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61772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Metodologia atual e dados de ART, com lacunas e riscos.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30352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79" y="41148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1148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Documentos institucionais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61772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Proposta, nota técnica, minuta de recomendação e roteiro.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i="0">
                <a:solidFill>
                  <a:srgbClr val="065A82"/>
                </a:solidFill>
                <a:latin typeface="Cambria"/>
              </a:rPr>
              <a:t>Governança, LGPD e segurança jurídica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Revisão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801368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Comissão presidida pelo SENGE; manter / atualizar / inserir itens.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26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Transparência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44368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Nota técnica, versionamento e changelog a cada revisão.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69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LGPD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087368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Apenas agregados; supressão n&lt;5; sem ranking nem dados pessoais.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212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Caráter orientativo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230368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Referência técnica anti-aviltamento — não tabelamento.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Próximos passos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A33"/>
                </a:solidFill>
                <a:latin typeface="Calibri"/>
              </a:rPr>
              <a:t>Aprovar a arquitetura metodológica (3 camadas + calibração).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A33"/>
                </a:solidFill>
                <a:latin typeface="Calibri"/>
              </a:rPr>
              <a:t>Constituir a comissão e definir parâmetros (valor-hora, tempo técnico).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57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A33"/>
                </a:solidFill>
                <a:latin typeface="Calibri"/>
              </a:rPr>
              <a:t>Pesquisa de preços com entidades (≥5 por item).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720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A33"/>
                </a:solidFill>
                <a:latin typeface="Calibri"/>
              </a:rPr>
              <a:t>Validação jurídica do caráter orientativo e das normas.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4864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A33"/>
                </a:solidFill>
                <a:latin typeface="Calibri"/>
              </a:rPr>
              <a:t>Publicar a v1 com painel de evidências e planilha-modelo.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Modernizar a tabela sem inventar números: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cada valor terá origem rastreável e cada faixa, respaldo empírico.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Valorização da engenharia baiana com segurança técnica e jurídica.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9FB0C3"/>
                </a:solidFill>
                <a:latin typeface="Calibri"/>
              </a:rPr>
              <a:t>SENGE/BA · Proposta de subsídio técnico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